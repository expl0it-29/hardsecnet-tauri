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ucidity Expand" charset="1" panose="00000805000000000000"/>
      <p:regular r:id="rId18"/>
    </p:embeddedFont>
    <p:embeddedFont>
      <p:font typeface="Red Hat Display" charset="1" panose="02010503040201060303"/>
      <p:regular r:id="rId19"/>
    </p:embeddedFont>
    <p:embeddedFont>
      <p:font typeface="Red Hat Display Bold" charset="1" panose="0201080304020106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46850" y="-3058748"/>
            <a:ext cx="10219811" cy="9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00"/>
              </a:lnSpc>
            </a:pPr>
            <a:r>
              <a:rPr lang="en-US" sz="58077">
                <a:solidFill>
                  <a:srgbClr val="323131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87499" y="2354922"/>
            <a:ext cx="8275667" cy="9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00"/>
              </a:lnSpc>
            </a:pPr>
            <a:r>
              <a:rPr lang="en-US" sz="58077">
                <a:solidFill>
                  <a:srgbClr val="323131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6301" y="4088511"/>
            <a:ext cx="12410932" cy="105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8"/>
              </a:lnSpc>
            </a:pPr>
            <a:r>
              <a:rPr lang="en-US" sz="72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HARDSECNET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051098" y="7488969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7"/>
                </a:lnTo>
                <a:lnTo>
                  <a:pt x="0" y="6006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96301" y="5229799"/>
            <a:ext cx="6329591" cy="225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3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By : Rahul Nawale(4)</a:t>
            </a:r>
          </a:p>
          <a:p>
            <a:pPr algn="l">
              <a:lnSpc>
                <a:spcPts val="4306"/>
              </a:lnSpc>
            </a:pPr>
            <a:r>
              <a:rPr lang="en-US" sz="33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  Tushar Satpute(5)</a:t>
            </a:r>
          </a:p>
          <a:p>
            <a:pPr algn="l">
              <a:lnSpc>
                <a:spcPts val="4306"/>
              </a:lnSpc>
            </a:pPr>
            <a:r>
              <a:rPr lang="en-US" sz="33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  Siddharth Magdum(6)</a:t>
            </a:r>
          </a:p>
          <a:p>
            <a:pPr algn="l">
              <a:lnSpc>
                <a:spcPts val="508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867136" y="216084"/>
            <a:ext cx="9658196" cy="63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6"/>
              </a:lnSpc>
            </a:pPr>
            <a:r>
              <a:rPr lang="en-US" sz="39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Walchand Institute of Technology, Solapur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4382" y="7584219"/>
            <a:ext cx="5019235" cy="185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36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Under the Guidance of:</a:t>
            </a:r>
          </a:p>
          <a:p>
            <a:pPr algn="ctr">
              <a:lnSpc>
                <a:spcPts val="4696"/>
              </a:lnSpc>
            </a:pPr>
            <a:r>
              <a:rPr lang="en-US" sz="36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Mrs. R. M. Shelke</a:t>
            </a:r>
          </a:p>
          <a:p>
            <a:pPr algn="l">
              <a:lnSpc>
                <a:spcPts val="54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96301" y="3416471"/>
            <a:ext cx="9658196" cy="63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6"/>
              </a:lnSpc>
            </a:pPr>
            <a:r>
              <a:rPr lang="en-US" sz="39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Final Year Project Synopsis On: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4053" y="8486461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47759" y="1383093"/>
            <a:ext cx="8592482" cy="10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2"/>
              </a:lnSpc>
            </a:pPr>
            <a:r>
              <a:rPr lang="en-US" sz="71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ABSTRACT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3632" y="3208841"/>
            <a:ext cx="15484937" cy="446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432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•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Grow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ing 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omplexity 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of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IT s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ys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ms in enterprises and academia.</a:t>
            </a:r>
          </a:p>
          <a:p>
            <a:pPr algn="l">
              <a:lnSpc>
                <a:spcPts val="4462"/>
              </a:lnSpc>
            </a:pPr>
          </a:p>
          <a:p>
            <a:pPr algn="l">
              <a:lnSpc>
                <a:spcPts val="4462"/>
              </a:lnSpc>
            </a:pP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Security inconsistency across Linux an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 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latform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s.</a:t>
            </a:r>
          </a:p>
          <a:p>
            <a:pPr algn="l">
              <a:lnSpc>
                <a:spcPts val="4462"/>
              </a:lnSpc>
            </a:pPr>
          </a:p>
          <a:p>
            <a:pPr algn="l">
              <a:lnSpc>
                <a:spcPts val="4462"/>
              </a:lnSpc>
            </a:pP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Hard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Sec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</a:t>
            </a:r>
            <a:r>
              <a:rPr lang="en-US" sz="3432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t: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unified auditing, hardening, monitoring and AI Tool.</a:t>
            </a:r>
          </a:p>
          <a:p>
            <a:pPr algn="l">
              <a:lnSpc>
                <a:spcPts val="4462"/>
              </a:lnSpc>
            </a:pPr>
          </a:p>
          <a:p>
            <a:pPr algn="l">
              <a:lnSpc>
                <a:spcPts val="4462"/>
              </a:lnSpc>
            </a:pP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</a:t>
            </a:r>
            <a:r>
              <a:rPr lang="en-US" sz="34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Features React dashboard, GPT-based analysis, and drift engine.</a:t>
            </a:r>
          </a:p>
          <a:p>
            <a:pPr algn="l">
              <a:lnSpc>
                <a:spcPts val="420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26078" y="6833579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22153" y="1066800"/>
            <a:ext cx="10243694" cy="207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71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PROBLEM STATEMENT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03529"/>
            <a:ext cx="12133855" cy="425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2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Cross-platform security inconsistencies.</a:t>
            </a:r>
          </a:p>
          <a:p>
            <a:pPr algn="l">
              <a:lnSpc>
                <a:spcPts val="4267"/>
              </a:lnSpc>
            </a:pPr>
          </a:p>
          <a:p>
            <a:pPr algn="l">
              <a:lnSpc>
                <a:spcPts val="4267"/>
              </a:lnSpc>
            </a:pPr>
            <a:r>
              <a:rPr lang="en-US" sz="32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Manual audits prone to error and inefficiency.</a:t>
            </a:r>
          </a:p>
          <a:p>
            <a:pPr algn="l">
              <a:lnSpc>
                <a:spcPts val="4267"/>
              </a:lnSpc>
            </a:pPr>
          </a:p>
          <a:p>
            <a:pPr algn="l">
              <a:lnSpc>
                <a:spcPts val="4267"/>
              </a:lnSpc>
            </a:pPr>
            <a:r>
              <a:rPr lang="en-US" sz="32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Unclear alert messages and no intelligent recommendations.</a:t>
            </a:r>
          </a:p>
          <a:p>
            <a:pPr algn="l">
              <a:lnSpc>
                <a:spcPts val="4267"/>
              </a:lnSpc>
            </a:pPr>
          </a:p>
          <a:p>
            <a:pPr algn="l">
              <a:lnSpc>
                <a:spcPts val="4267"/>
              </a:lnSpc>
            </a:pPr>
            <a:r>
              <a:rPr lang="en-US" sz="32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No configuration drift detection or unified dashboard.</a:t>
            </a:r>
          </a:p>
          <a:p>
            <a:pPr algn="l">
              <a:lnSpc>
                <a:spcPts val="4267"/>
              </a:lnSpc>
            </a:pPr>
            <a:r>
              <a:rPr lang="en-US" sz="32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2076450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26078" y="6833579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0190" y="1066800"/>
            <a:ext cx="12427621" cy="10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71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116" y="3779554"/>
            <a:ext cx="4748006" cy="200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Develop a unified auditing and hardening system compatible with both Linux and Windows platforms.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22373" y="2741161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6253" y="3779554"/>
            <a:ext cx="4371467" cy="251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Leverage GPT-based AI to generate human-readable security reports and recommendations</a:t>
            </a:r>
          </a:p>
          <a:p>
            <a:pPr algn="ctr">
              <a:lnSpc>
                <a:spcPts val="400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230240" y="2681076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6412" y="3779554"/>
            <a:ext cx="4476898" cy="251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Design a React-based dashboard for real-time visualization of audit results and system health.</a:t>
            </a:r>
          </a:p>
          <a:p>
            <a:pPr algn="ctr">
              <a:lnSpc>
                <a:spcPts val="400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173115" y="2681076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31746" y="7379032"/>
            <a:ext cx="5233802" cy="200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Implement snapshot-based comparison to identify and alert unauthorized or unintended system changes.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92455" y="6285037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4857" y="7318947"/>
            <a:ext cx="5094422" cy="251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Ensure each module (audit, hardening, monitoring, explainability) works independently yet integrates seamlessly.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00322" y="6224951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26078" y="6833579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2470" y="3432877"/>
            <a:ext cx="1159518" cy="1085731"/>
          </a:xfrm>
          <a:custGeom>
            <a:avLst/>
            <a:gdLst/>
            <a:ahLst/>
            <a:cxnLst/>
            <a:rect r="r" b="b" t="t" l="l"/>
            <a:pathLst>
              <a:path h="1085731" w="1159518">
                <a:moveTo>
                  <a:pt x="0" y="0"/>
                </a:moveTo>
                <a:lnTo>
                  <a:pt x="1159518" y="0"/>
                </a:lnTo>
                <a:lnTo>
                  <a:pt x="1159518" y="1085731"/>
                </a:lnTo>
                <a:lnTo>
                  <a:pt x="0" y="1085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58073" y="8274294"/>
            <a:ext cx="1192826" cy="1186320"/>
          </a:xfrm>
          <a:custGeom>
            <a:avLst/>
            <a:gdLst/>
            <a:ahLst/>
            <a:cxnLst/>
            <a:rect r="r" b="b" t="t" l="l"/>
            <a:pathLst>
              <a:path h="1186320" w="1192826">
                <a:moveTo>
                  <a:pt x="0" y="0"/>
                </a:moveTo>
                <a:lnTo>
                  <a:pt x="1192826" y="0"/>
                </a:lnTo>
                <a:lnTo>
                  <a:pt x="1192826" y="1186320"/>
                </a:lnTo>
                <a:lnTo>
                  <a:pt x="0" y="1186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22476" y="4266952"/>
            <a:ext cx="1071148" cy="1071148"/>
          </a:xfrm>
          <a:custGeom>
            <a:avLst/>
            <a:gdLst/>
            <a:ahLst/>
            <a:cxnLst/>
            <a:rect r="r" b="b" t="t" l="l"/>
            <a:pathLst>
              <a:path h="1071148" w="1071148">
                <a:moveTo>
                  <a:pt x="0" y="0"/>
                </a:moveTo>
                <a:lnTo>
                  <a:pt x="1071148" y="0"/>
                </a:lnTo>
                <a:lnTo>
                  <a:pt x="1071148" y="1071148"/>
                </a:lnTo>
                <a:lnTo>
                  <a:pt x="0" y="1071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07197" y="7626811"/>
            <a:ext cx="1193066" cy="1193066"/>
          </a:xfrm>
          <a:custGeom>
            <a:avLst/>
            <a:gdLst/>
            <a:ahLst/>
            <a:cxnLst/>
            <a:rect r="r" b="b" t="t" l="l"/>
            <a:pathLst>
              <a:path h="1193066" w="1193066">
                <a:moveTo>
                  <a:pt x="0" y="0"/>
                </a:moveTo>
                <a:lnTo>
                  <a:pt x="1193067" y="0"/>
                </a:lnTo>
                <a:lnTo>
                  <a:pt x="1193067" y="1193066"/>
                </a:lnTo>
                <a:lnTo>
                  <a:pt x="0" y="1193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98805" y="3082055"/>
            <a:ext cx="1093825" cy="1093825"/>
          </a:xfrm>
          <a:custGeom>
            <a:avLst/>
            <a:gdLst/>
            <a:ahLst/>
            <a:cxnLst/>
            <a:rect r="r" b="b" t="t" l="l"/>
            <a:pathLst>
              <a:path h="1093825" w="1093825">
                <a:moveTo>
                  <a:pt x="0" y="0"/>
                </a:moveTo>
                <a:lnTo>
                  <a:pt x="1093825" y="0"/>
                </a:lnTo>
                <a:lnTo>
                  <a:pt x="1093825" y="1093825"/>
                </a:lnTo>
                <a:lnTo>
                  <a:pt x="0" y="10938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09258" y="3868479"/>
            <a:ext cx="2550042" cy="1275021"/>
          </a:xfrm>
          <a:custGeom>
            <a:avLst/>
            <a:gdLst/>
            <a:ahLst/>
            <a:cxnLst/>
            <a:rect r="r" b="b" t="t" l="l"/>
            <a:pathLst>
              <a:path h="1275021" w="2550042">
                <a:moveTo>
                  <a:pt x="0" y="0"/>
                </a:moveTo>
                <a:lnTo>
                  <a:pt x="2550042" y="0"/>
                </a:lnTo>
                <a:lnTo>
                  <a:pt x="2550042" y="1275021"/>
                </a:lnTo>
                <a:lnTo>
                  <a:pt x="0" y="127502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7727" y="4266952"/>
            <a:ext cx="2074903" cy="2074903"/>
          </a:xfrm>
          <a:custGeom>
            <a:avLst/>
            <a:gdLst/>
            <a:ahLst/>
            <a:cxnLst/>
            <a:rect r="r" b="b" t="t" l="l"/>
            <a:pathLst>
              <a:path h="2074903" w="2074903">
                <a:moveTo>
                  <a:pt x="0" y="0"/>
                </a:moveTo>
                <a:lnTo>
                  <a:pt x="2074903" y="0"/>
                </a:lnTo>
                <a:lnTo>
                  <a:pt x="2074903" y="2074902"/>
                </a:lnTo>
                <a:lnTo>
                  <a:pt x="0" y="20749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74586" y="6069573"/>
            <a:ext cx="909756" cy="909756"/>
          </a:xfrm>
          <a:custGeom>
            <a:avLst/>
            <a:gdLst/>
            <a:ahLst/>
            <a:cxnLst/>
            <a:rect r="r" b="b" t="t" l="l"/>
            <a:pathLst>
              <a:path h="909756" w="909756">
                <a:moveTo>
                  <a:pt x="0" y="0"/>
                </a:moveTo>
                <a:lnTo>
                  <a:pt x="909756" y="0"/>
                </a:lnTo>
                <a:lnTo>
                  <a:pt x="909756" y="909756"/>
                </a:lnTo>
                <a:lnTo>
                  <a:pt x="0" y="9097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50899" y="6979329"/>
            <a:ext cx="1294965" cy="1294965"/>
          </a:xfrm>
          <a:custGeom>
            <a:avLst/>
            <a:gdLst/>
            <a:ahLst/>
            <a:cxnLst/>
            <a:rect r="r" b="b" t="t" l="l"/>
            <a:pathLst>
              <a:path h="1294965" w="1294965">
                <a:moveTo>
                  <a:pt x="0" y="0"/>
                </a:moveTo>
                <a:lnTo>
                  <a:pt x="1294965" y="0"/>
                </a:lnTo>
                <a:lnTo>
                  <a:pt x="1294965" y="1294965"/>
                </a:lnTo>
                <a:lnTo>
                  <a:pt x="0" y="12949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26407" y="6069573"/>
            <a:ext cx="1495581" cy="1495581"/>
          </a:xfrm>
          <a:custGeom>
            <a:avLst/>
            <a:gdLst/>
            <a:ahLst/>
            <a:cxnLst/>
            <a:rect r="r" b="b" t="t" l="l"/>
            <a:pathLst>
              <a:path h="1495581" w="1495581">
                <a:moveTo>
                  <a:pt x="0" y="0"/>
                </a:moveTo>
                <a:lnTo>
                  <a:pt x="1495581" y="0"/>
                </a:lnTo>
                <a:lnTo>
                  <a:pt x="1495581" y="1495580"/>
                </a:lnTo>
                <a:lnTo>
                  <a:pt x="0" y="14955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42283" y="1057275"/>
            <a:ext cx="11403435" cy="202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4"/>
              </a:lnSpc>
            </a:pPr>
            <a:r>
              <a:rPr lang="en-US" sz="69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TECHNOLOGY 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413827"/>
            <a:ext cx="5033770" cy="192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982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Frontend: </a:t>
            </a:r>
          </a:p>
          <a:p>
            <a:pPr algn="l">
              <a:lnSpc>
                <a:spcPts val="3877"/>
              </a:lnSpc>
            </a:pPr>
            <a:r>
              <a:rPr lang="en-US" sz="29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React.js (UI), Axios (API calls), Chart.js (visualization), Tailwind (styling)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2900" y="6031473"/>
            <a:ext cx="5229570" cy="327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b="true" sz="293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Backend</a:t>
            </a:r>
            <a:r>
              <a:rPr lang="en-US" sz="29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</a:t>
            </a:r>
          </a:p>
          <a:p>
            <a:pPr algn="l" marL="634547" indent="-317273" lvl="1">
              <a:lnSpc>
                <a:spcPts val="3820"/>
              </a:lnSpc>
              <a:spcBef>
                <a:spcPct val="0"/>
              </a:spcBef>
              <a:buFont typeface="Arial"/>
              <a:buChar char="•"/>
            </a:pPr>
            <a:r>
              <a:rPr lang="en-US" sz="29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Flask (Python REST API), JSON/File Storage (audit logs, snapshots)</a:t>
            </a:r>
          </a:p>
          <a:p>
            <a:pPr algn="l" marL="634547" indent="-317273" lvl="1">
              <a:lnSpc>
                <a:spcPts val="3820"/>
              </a:lnSpc>
              <a:spcBef>
                <a:spcPct val="0"/>
              </a:spcBef>
              <a:buFont typeface="Arial"/>
              <a:buChar char="•"/>
            </a:pPr>
            <a:r>
              <a:rPr lang="en-US" sz="29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OpenAI API (GPT integration)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053631" y="3660954"/>
            <a:ext cx="5694970" cy="142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Dev/Test:</a:t>
            </a:r>
          </a:p>
          <a:p>
            <a:pPr algn="l" marL="626111" indent="-313055" lvl="1">
              <a:lnSpc>
                <a:spcPts val="377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</a:t>
            </a:r>
            <a:r>
              <a:rPr lang="en-US" sz="29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itHub , Postman (API testing)</a:t>
            </a:r>
          </a:p>
          <a:p>
            <a:pPr algn="l" marL="626111" indent="-313055" lvl="1">
              <a:lnSpc>
                <a:spcPts val="377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Hosting: Firebase, Vercel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53631" y="6040998"/>
            <a:ext cx="7125818" cy="246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b="true" sz="3039" u="sng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Client Tools:</a:t>
            </a:r>
          </a:p>
          <a:p>
            <a:pPr algn="l" marL="656136" indent="-328068" lvl="1">
              <a:lnSpc>
                <a:spcPts val="3950"/>
              </a:lnSpc>
              <a:buFont typeface="Arial"/>
              <a:buChar char="•"/>
            </a:pPr>
            <a:r>
              <a:rPr lang="en-US" sz="30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Linux: Bash scripts, Lynis, Ansible, iptables, systemctl</a:t>
            </a:r>
          </a:p>
          <a:p>
            <a:pPr algn="l" marL="656136" indent="-328068" lvl="1">
              <a:lnSpc>
                <a:spcPts val="3950"/>
              </a:lnSpc>
              <a:buFont typeface="Arial"/>
              <a:buChar char="•"/>
            </a:pPr>
            <a:r>
              <a:rPr lang="en-US" sz="30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Windows: PowerShell scripts, auditpol, registry, GPOs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26078" y="6833579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70474" y="2594916"/>
            <a:ext cx="574154" cy="57415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10862" y="2881993"/>
            <a:ext cx="204203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965491" y="2594916"/>
            <a:ext cx="574154" cy="5741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89642" y="4215926"/>
            <a:ext cx="2925851" cy="125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5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Requirement Gathering &amp; Use Case Design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67982" y="2594916"/>
            <a:ext cx="574154" cy="57415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73478" y="2594916"/>
            <a:ext cx="574154" cy="57415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3106162" y="2901043"/>
            <a:ext cx="204203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3106162" y="2881993"/>
            <a:ext cx="204203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176482" y="2594916"/>
            <a:ext cx="574154" cy="57415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6001461" y="2901043"/>
            <a:ext cx="204203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>
            <a:off x="3252568" y="5469292"/>
            <a:ext cx="0" cy="4191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676377" y="5888392"/>
            <a:ext cx="3152382" cy="1817299"/>
            <a:chOff x="0" y="0"/>
            <a:chExt cx="830257" cy="4786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0257" cy="478630"/>
            </a:xfrm>
            <a:custGeom>
              <a:avLst/>
              <a:gdLst/>
              <a:ahLst/>
              <a:cxnLst/>
              <a:rect r="r" b="b" t="t" l="l"/>
              <a:pathLst>
                <a:path h="478630" w="830257">
                  <a:moveTo>
                    <a:pt x="0" y="0"/>
                  </a:moveTo>
                  <a:lnTo>
                    <a:pt x="830257" y="0"/>
                  </a:lnTo>
                  <a:lnTo>
                    <a:pt x="830257" y="478630"/>
                  </a:lnTo>
                  <a:lnTo>
                    <a:pt x="0" y="478630"/>
                  </a:lnTo>
                  <a:close/>
                </a:path>
              </a:pathLst>
            </a:custGeom>
            <a:solidFill>
              <a:srgbClr val="8D8D8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30257" cy="51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829133" y="4213336"/>
            <a:ext cx="2451852" cy="125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5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Technology Stack Finalization</a:t>
            </a:r>
          </a:p>
        </p:txBody>
      </p:sp>
      <p:sp>
        <p:nvSpPr>
          <p:cNvPr name="AutoShape 29" id="29"/>
          <p:cNvSpPr/>
          <p:nvPr/>
        </p:nvSpPr>
        <p:spPr>
          <a:xfrm>
            <a:off x="6055059" y="5466702"/>
            <a:ext cx="12309" cy="354621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4829133" y="9012914"/>
            <a:ext cx="2476096" cy="824069"/>
            <a:chOff x="0" y="0"/>
            <a:chExt cx="652141" cy="2170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2141" cy="217039"/>
            </a:xfrm>
            <a:custGeom>
              <a:avLst/>
              <a:gdLst/>
              <a:ahLst/>
              <a:cxnLst/>
              <a:rect r="r" b="b" t="t" l="l"/>
              <a:pathLst>
                <a:path h="217039" w="652141">
                  <a:moveTo>
                    <a:pt x="0" y="0"/>
                  </a:moveTo>
                  <a:lnTo>
                    <a:pt x="652141" y="0"/>
                  </a:lnTo>
                  <a:lnTo>
                    <a:pt x="652141" y="217039"/>
                  </a:lnTo>
                  <a:lnTo>
                    <a:pt x="0" y="217039"/>
                  </a:lnTo>
                  <a:close/>
                </a:path>
              </a:pathLst>
            </a:custGeom>
            <a:solidFill>
              <a:srgbClr val="8D8D8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52141" cy="25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8857551" y="5050865"/>
            <a:ext cx="0" cy="57776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7027424" y="5595615"/>
            <a:ext cx="3614382" cy="3146346"/>
            <a:chOff x="0" y="0"/>
            <a:chExt cx="951936" cy="8286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1936" cy="828667"/>
            </a:xfrm>
            <a:custGeom>
              <a:avLst/>
              <a:gdLst/>
              <a:ahLst/>
              <a:cxnLst/>
              <a:rect r="r" b="b" t="t" l="l"/>
              <a:pathLst>
                <a:path h="828667" w="951936">
                  <a:moveTo>
                    <a:pt x="0" y="0"/>
                  </a:moveTo>
                  <a:lnTo>
                    <a:pt x="951936" y="0"/>
                  </a:lnTo>
                  <a:lnTo>
                    <a:pt x="951936" y="828667"/>
                  </a:lnTo>
                  <a:lnTo>
                    <a:pt x="0" y="828667"/>
                  </a:lnTo>
                  <a:close/>
                </a:path>
              </a:pathLst>
            </a:custGeom>
            <a:solidFill>
              <a:srgbClr val="8D8D8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51936" cy="866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1660555" y="4693480"/>
            <a:ext cx="0" cy="6055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0698956" y="5445955"/>
            <a:ext cx="1930185" cy="1924660"/>
            <a:chOff x="0" y="0"/>
            <a:chExt cx="508361" cy="5069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361" cy="506906"/>
            </a:xfrm>
            <a:custGeom>
              <a:avLst/>
              <a:gdLst/>
              <a:ahLst/>
              <a:cxnLst/>
              <a:rect r="r" b="b" t="t" l="l"/>
              <a:pathLst>
                <a:path h="506906" w="508361">
                  <a:moveTo>
                    <a:pt x="0" y="0"/>
                  </a:moveTo>
                  <a:lnTo>
                    <a:pt x="508361" y="0"/>
                  </a:lnTo>
                  <a:lnTo>
                    <a:pt x="508361" y="506906"/>
                  </a:lnTo>
                  <a:lnTo>
                    <a:pt x="0" y="506906"/>
                  </a:lnTo>
                  <a:close/>
                </a:path>
              </a:pathLst>
            </a:custGeom>
            <a:solidFill>
              <a:srgbClr val="8D8D8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08361" cy="54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0"/>
                </a:lnSpc>
              </a:pPr>
            </a:p>
            <a:p>
              <a:pPr algn="ctr">
                <a:lnSpc>
                  <a:spcPts val="33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995817" y="5695080"/>
            <a:ext cx="2857789" cy="2167480"/>
            <a:chOff x="0" y="0"/>
            <a:chExt cx="752669" cy="5708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2669" cy="570859"/>
            </a:xfrm>
            <a:custGeom>
              <a:avLst/>
              <a:gdLst/>
              <a:ahLst/>
              <a:cxnLst/>
              <a:rect r="r" b="b" t="t" l="l"/>
              <a:pathLst>
                <a:path h="570859" w="752669">
                  <a:moveTo>
                    <a:pt x="0" y="0"/>
                  </a:moveTo>
                  <a:lnTo>
                    <a:pt x="752669" y="0"/>
                  </a:lnTo>
                  <a:lnTo>
                    <a:pt x="752669" y="570859"/>
                  </a:lnTo>
                  <a:lnTo>
                    <a:pt x="0" y="570859"/>
                  </a:lnTo>
                  <a:close/>
                </a:path>
              </a:pathLst>
            </a:custGeom>
            <a:solidFill>
              <a:srgbClr val="8D8D8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52669" cy="60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073513" y="5666505"/>
            <a:ext cx="2780093" cy="213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sz="26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Launch on cloud/local systems with dashboard integration and live monitoring.</a:t>
            </a:r>
          </a:p>
        </p:txBody>
      </p:sp>
      <p:sp>
        <p:nvSpPr>
          <p:cNvPr name="AutoShape 45" id="45"/>
          <p:cNvSpPr/>
          <p:nvPr/>
        </p:nvSpPr>
        <p:spPr>
          <a:xfrm flipH="true">
            <a:off x="14463559" y="5109317"/>
            <a:ext cx="0" cy="58576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6" id="46"/>
          <p:cNvSpPr txBox="true"/>
          <p:nvPr/>
        </p:nvSpPr>
        <p:spPr>
          <a:xfrm rot="0">
            <a:off x="2930190" y="1066800"/>
            <a:ext cx="12427621" cy="10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71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PROCESS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60822" y="3363677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363313" y="3363677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65805" y="3363677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63494" y="4213336"/>
            <a:ext cx="2188113" cy="83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5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Module Development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968809" y="3422130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66498" y="4271788"/>
            <a:ext cx="2188113" cy="42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5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Testing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71813" y="3422130"/>
            <a:ext cx="1383492" cy="8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369502" y="4271788"/>
            <a:ext cx="2188113" cy="83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5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Deployment &amp; Monitoring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36731" y="5919958"/>
            <a:ext cx="3031673" cy="172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6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target systems, audit goals, and real-world security gaps.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829508" y="8984339"/>
            <a:ext cx="2475722" cy="85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sz="26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Choose tools and frameworks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94208" y="5609577"/>
            <a:ext cx="3926685" cy="350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7" indent="-261379" lvl="1">
              <a:lnSpc>
                <a:spcPts val="3147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OS</a:t>
            </a:r>
            <a:r>
              <a:rPr lang="en-US" sz="242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Hardening Scripts (Linux &amp; Windows)</a:t>
            </a:r>
          </a:p>
          <a:p>
            <a:pPr algn="l" marL="522757" indent="-261379" lvl="1">
              <a:lnSpc>
                <a:spcPts val="3147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Flask API Backend</a:t>
            </a:r>
          </a:p>
          <a:p>
            <a:pPr algn="l" marL="522757" indent="-261379" lvl="1">
              <a:lnSpc>
                <a:spcPts val="3147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GPT Explainability Engine</a:t>
            </a:r>
          </a:p>
          <a:p>
            <a:pPr algn="l" marL="522757" indent="-261379" lvl="1">
              <a:lnSpc>
                <a:spcPts val="3147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Drift Detection System</a:t>
            </a:r>
          </a:p>
          <a:p>
            <a:pPr algn="l" marL="522757" indent="-261379" lvl="1">
              <a:lnSpc>
                <a:spcPts val="3147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React Monitoring Dashboard</a:t>
            </a:r>
          </a:p>
          <a:p>
            <a:pPr algn="l">
              <a:lnSpc>
                <a:spcPts val="3147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0691969" y="5426905"/>
            <a:ext cx="1937172" cy="186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2"/>
              </a:lnSpc>
              <a:spcBef>
                <a:spcPct val="0"/>
              </a:spcBef>
            </a:pPr>
            <a:r>
              <a:rPr lang="en-US" sz="22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Unit, integration, and UAT across OS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74053" y="8486461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1787" y="1879355"/>
            <a:ext cx="17044425" cy="8313935"/>
          </a:xfrm>
          <a:custGeom>
            <a:avLst/>
            <a:gdLst/>
            <a:ahLst/>
            <a:cxnLst/>
            <a:rect r="r" b="b" t="t" l="l"/>
            <a:pathLst>
              <a:path h="8313935" w="17044425">
                <a:moveTo>
                  <a:pt x="0" y="0"/>
                </a:moveTo>
                <a:lnTo>
                  <a:pt x="17044426" y="0"/>
                </a:lnTo>
                <a:lnTo>
                  <a:pt x="17044426" y="8313936"/>
                </a:lnTo>
                <a:lnTo>
                  <a:pt x="0" y="8313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087" r="0" b="-5717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86986" y="206620"/>
            <a:ext cx="12114029" cy="167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8"/>
              </a:lnSpc>
            </a:pPr>
            <a:r>
              <a:rPr lang="en-US" sz="55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ARCHITECTURE </a:t>
            </a:r>
          </a:p>
          <a:p>
            <a:pPr algn="ctr">
              <a:lnSpc>
                <a:spcPts val="6804"/>
              </a:lnSpc>
            </a:pPr>
            <a:r>
              <a:rPr lang="en-US" sz="59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590678" y="-2095196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7"/>
                </a:moveTo>
                <a:lnTo>
                  <a:pt x="0" y="6006807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7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9518" y="1951247"/>
            <a:ext cx="15648963" cy="8148305"/>
          </a:xfrm>
          <a:custGeom>
            <a:avLst/>
            <a:gdLst/>
            <a:ahLst/>
            <a:cxnLst/>
            <a:rect r="r" b="b" t="t" l="l"/>
            <a:pathLst>
              <a:path h="8148305" w="15648963">
                <a:moveTo>
                  <a:pt x="0" y="0"/>
                </a:moveTo>
                <a:lnTo>
                  <a:pt x="15648964" y="0"/>
                </a:lnTo>
                <a:lnTo>
                  <a:pt x="15648964" y="8148305"/>
                </a:lnTo>
                <a:lnTo>
                  <a:pt x="0" y="8148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9" t="-1091" r="-676" b="-7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86986" y="1057275"/>
            <a:ext cx="12114029" cy="89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8"/>
              </a:lnSpc>
            </a:pPr>
            <a:r>
              <a:rPr lang="en-US" sz="60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TIME LINE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774053" y="8486461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732169" y="-863308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4053" y="8486461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9811" y="1066800"/>
            <a:ext cx="9508378" cy="208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2"/>
              </a:lnSpc>
            </a:pPr>
            <a:r>
              <a:rPr lang="en-US" sz="71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PROJECT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43152"/>
            <a:ext cx="16230600" cy="511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PO1: Engineering knowledge → OS security, GPT, audit tools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PO2: Problem analysis → config drift, weak policies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PO3: Solution design → HardSecNet platform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PO5: Modern tool usage → React, Flask, GPT, GitHub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PO6: Social relevance → Affordable cybersecurity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PO9: Team collaboration → Role-based milestones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PO10: Communication → Clear reports + dashboards</a:t>
            </a:r>
          </a:p>
          <a:p>
            <a:pPr algn="l" marL="773446" indent="-386723" lvl="1">
              <a:lnSpc>
                <a:spcPts val="4657"/>
              </a:lnSpc>
              <a:buFont typeface="Arial"/>
              <a:buChar char="•"/>
            </a:pPr>
            <a:r>
              <a:rPr lang="en-US" sz="35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PO11: Lifelong learning → LLMs, dynamic policies</a:t>
            </a:r>
          </a:p>
          <a:p>
            <a:pPr algn="l">
              <a:lnSpc>
                <a:spcPts val="309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4053" y="8486461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16230600" cy="211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</a:pPr>
            <a:r>
              <a:rPr lang="en-US" sz="72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CO’S AND RELEVANT SDGS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79106"/>
            <a:ext cx="16230600" cy="434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499" indent="-332749" lvl="1">
              <a:lnSpc>
                <a:spcPts val="4007"/>
              </a:lnSpc>
              <a:buFont typeface="Arial"/>
              <a:buChar char="•"/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CO1: Applied software engineering principles like modular design and agile methods to solve real-world cybersecurity problems.</a:t>
            </a:r>
          </a:p>
          <a:p>
            <a:pPr algn="l" marL="665499" indent="-332749" lvl="1">
              <a:lnSpc>
                <a:spcPts val="4007"/>
              </a:lnSpc>
              <a:buFont typeface="Arial"/>
              <a:buChar char="•"/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O2: Used modern tools—Flask, React, GPT APIs, GitHub, Postman, and Prometheus—for full-stack development and automation.</a:t>
            </a:r>
          </a:p>
          <a:p>
            <a:pPr algn="l" marL="665499" indent="-332749" lvl="1">
              <a:lnSpc>
                <a:spcPts val="4007"/>
              </a:lnSpc>
              <a:buFont typeface="Arial"/>
              <a:buChar char="•"/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CO3: Designed system modules (audit, hardening, monitoring, explainability) based on clear functional requirements.</a:t>
            </a:r>
          </a:p>
          <a:p>
            <a:pPr algn="l" marL="665499" indent="-332749" lvl="1">
              <a:lnSpc>
                <a:spcPts val="4007"/>
              </a:lnSpc>
              <a:buFont typeface="Arial"/>
              <a:buChar char="•"/>
            </a:pP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30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O4: Analyzed audit results and performance logs to detect issues and drive continuous improvement.</a:t>
            </a:r>
          </a:p>
          <a:p>
            <a:pPr algn="l">
              <a:lnSpc>
                <a:spcPts val="244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90979"/>
            <a:ext cx="16230600" cy="1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b="true" sz="3039" u="sng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SDG 9 – Industry, Innovation, and Infrastructure</a:t>
            </a:r>
          </a:p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HardSecNet promotes affordable and scalable cybersecurity solutions, encouraging secure infrastructure and innovation for industries and academia.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85247" y="-1974704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5548106" y="6006808"/>
                </a:moveTo>
                <a:lnTo>
                  <a:pt x="0" y="6006808"/>
                </a:lnTo>
                <a:lnTo>
                  <a:pt x="0" y="0"/>
                </a:lnTo>
                <a:lnTo>
                  <a:pt x="5548106" y="0"/>
                </a:lnTo>
                <a:lnTo>
                  <a:pt x="5548106" y="6006808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26078" y="6833579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0190" y="3042006"/>
            <a:ext cx="12427621" cy="10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7169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69541"/>
            <a:ext cx="16230600" cy="326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9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HardSecNet addresses modern multi-OS security needs.</a:t>
            </a:r>
          </a:p>
          <a:p>
            <a:pPr algn="ctr">
              <a:lnSpc>
                <a:spcPts val="5177"/>
              </a:lnSpc>
            </a:pPr>
            <a:r>
              <a:rPr lang="en-US" sz="39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Combines automation, AI, and usability.</a:t>
            </a:r>
          </a:p>
          <a:p>
            <a:pPr algn="ctr">
              <a:lnSpc>
                <a:spcPts val="5177"/>
              </a:lnSpc>
            </a:pPr>
            <a:r>
              <a:rPr lang="en-US" sz="39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Suitable for real-world deployment.</a:t>
            </a:r>
          </a:p>
          <a:p>
            <a:pPr algn="ctr">
              <a:lnSpc>
                <a:spcPts val="5177"/>
              </a:lnSpc>
            </a:pPr>
            <a:r>
              <a:rPr lang="en-US" sz="39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• Encourages innovation in cybersecurity.</a:t>
            </a:r>
          </a:p>
          <a:p>
            <a:pPr algn="ctr">
              <a:lnSpc>
                <a:spcPts val="517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6235" y="-3058748"/>
            <a:ext cx="8867461" cy="9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00"/>
              </a:lnSpc>
            </a:pPr>
            <a:r>
              <a:rPr lang="en-US" sz="58077">
                <a:solidFill>
                  <a:srgbClr val="323131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16105" y="2415169"/>
            <a:ext cx="8622399" cy="9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00"/>
              </a:lnSpc>
            </a:pPr>
            <a:r>
              <a:rPr lang="en-US" sz="58077">
                <a:solidFill>
                  <a:srgbClr val="323131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8426" y="3519018"/>
            <a:ext cx="10388706" cy="330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5"/>
              </a:lnSpc>
            </a:pPr>
            <a:r>
              <a:rPr lang="en-US" sz="11373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THANK</a:t>
            </a:r>
          </a:p>
          <a:p>
            <a:pPr algn="l">
              <a:lnSpc>
                <a:spcPts val="12965"/>
              </a:lnSpc>
            </a:pPr>
            <a:r>
              <a:rPr lang="en-US" sz="11373">
                <a:solidFill>
                  <a:srgbClr val="FFFFFF"/>
                </a:solidFill>
                <a:latin typeface="Lucidity Expand"/>
                <a:ea typeface="Lucidity Expand"/>
                <a:cs typeface="Lucidity Expand"/>
                <a:sym typeface="Lucidity Expand"/>
              </a:rPr>
              <a:t>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774053" y="8486461"/>
            <a:ext cx="5548106" cy="6006808"/>
          </a:xfrm>
          <a:custGeom>
            <a:avLst/>
            <a:gdLst/>
            <a:ahLst/>
            <a:cxnLst/>
            <a:rect r="r" b="b" t="t" l="l"/>
            <a:pathLst>
              <a:path h="6006808" w="5548106">
                <a:moveTo>
                  <a:pt x="0" y="0"/>
                </a:moveTo>
                <a:lnTo>
                  <a:pt x="5548106" y="0"/>
                </a:lnTo>
                <a:lnTo>
                  <a:pt x="5548106" y="6006808"/>
                </a:lnTo>
                <a:lnTo>
                  <a:pt x="0" y="600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DAGs1TXXgvM</dc:identifier>
  <dcterms:modified xsi:type="dcterms:W3CDTF">2011-08-01T06:04:30Z</dcterms:modified>
  <cp:revision>1</cp:revision>
  <dc:title>Grey Monochrome Group Project Presentation</dc:title>
</cp:coreProperties>
</file>